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embeddedFontLst>
    <p:embeddedFont>
      <p:font typeface="Arimo"/>
      <p:regular r:id="rId201314"/>
    </p:embeddedFont>
    <p:embeddedFont>
      <p:font typeface="Arimo Bold"/>
      <p:regular r:id="rId201315"/>
    </p:embeddedFont>
    <p:embeddedFont>
      <p:font typeface="Syne"/>
      <p:regular r:id="rId201316"/>
    </p:embeddedFont>
    <p:embeddedFont>
      <p:font typeface="Syn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2B29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6" y="491430"/>
            <a:ext cx="4406095" cy="5875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480913"/>
            <a:ext cx="6223638" cy="146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Vendor Reliability Intelligence &amp; Procurement Risk Management Platform</a:t>
            </a:r>
            <a:endParaRPr lang="en-US" sz="3050" dirty="0"/>
          </a:p>
        </p:txBody>
      </p:sp>
      <p:sp>
        <p:nvSpPr>
          <p:cNvPr id="5" name="Text 2"/>
          <p:cNvSpPr/>
          <p:nvPr/>
        </p:nvSpPr>
        <p:spPr>
          <a:xfrm>
            <a:off x="5269971" y="2180134"/>
            <a:ext cx="6833223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Intelligent Vendor Evaluation and Procurement Decision Support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542" y="2615902"/>
            <a:ext cx="5912397" cy="25496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23386" y="4686959"/>
            <a:ext cx="1506846" cy="157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Reliability Intelligence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5823386" y="4096762"/>
            <a:ext cx="1298196" cy="157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Performance Data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823386" y="3512527"/>
            <a:ext cx="1262334" cy="157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Procurement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823386" y="2922330"/>
            <a:ext cx="1262334" cy="157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Vendors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269971" y="5342731"/>
            <a:ext cx="6223638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comprehensive platform connecting vendor data, procurement workflows, performance metrics, and reliability intelligence to enable </a:t>
            </a:r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risk-aware procurement decisions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at enterprise scale. Built with Angular, FastAPI, PostgreSQL, and modern DevOps tooling.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62173"/>
            <a:ext cx="676953" cy="238621"/>
          </a:xfrm>
          <a:prstGeom prst="roundRect">
            <a:avLst>
              <a:gd name="adj" fmla="val 7900"/>
            </a:avLst>
          </a:prstGeom>
          <a:solidFill>
            <a:srgbClr val="0F004D"/>
          </a:solidFill>
          <a:ln/>
        </p:spPr>
      </p:sp>
      <p:sp>
        <p:nvSpPr>
          <p:cNvPr id="3" name="Text 1"/>
          <p:cNvSpPr/>
          <p:nvPr/>
        </p:nvSpPr>
        <p:spPr>
          <a:xfrm>
            <a:off x="792242" y="609203"/>
            <a:ext cx="1098225" cy="14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TEAM 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98086" y="857250"/>
            <a:ext cx="10795524" cy="461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TEAM MEMBERS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98086" y="1531243"/>
            <a:ext cx="353408" cy="353417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sp>
        <p:nvSpPr>
          <p:cNvPr id="6" name="Text 4"/>
          <p:cNvSpPr/>
          <p:nvPr/>
        </p:nvSpPr>
        <p:spPr>
          <a:xfrm>
            <a:off x="763916" y="1569343"/>
            <a:ext cx="221748" cy="277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92778" y="1585218"/>
            <a:ext cx="2986013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Jhansi Lakshmi 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92778" y="1872655"/>
            <a:ext cx="2986013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Backend :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92778" y="2188369"/>
            <a:ext cx="2986013" cy="716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Authentication, authorization, user management, database / core backend configuration.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55495" y="1531243"/>
            <a:ext cx="353408" cy="353417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sp>
        <p:nvSpPr>
          <p:cNvPr id="11" name="Text 9"/>
          <p:cNvSpPr/>
          <p:nvPr/>
        </p:nvSpPr>
        <p:spPr>
          <a:xfrm>
            <a:off x="4421325" y="1569343"/>
            <a:ext cx="221748" cy="277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50187" y="1585218"/>
            <a:ext cx="2986013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Likitha Tummapudi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850187" y="1872655"/>
            <a:ext cx="2986013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Frontend :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850187" y="2188369"/>
            <a:ext cx="2986013" cy="477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Login, registration, password management and frontend authentication.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12904" y="1531243"/>
            <a:ext cx="353408" cy="353417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sp>
        <p:nvSpPr>
          <p:cNvPr id="16" name="Text 14"/>
          <p:cNvSpPr/>
          <p:nvPr/>
        </p:nvSpPr>
        <p:spPr>
          <a:xfrm>
            <a:off x="8078734" y="1569343"/>
            <a:ext cx="221748" cy="277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07597" y="1585218"/>
            <a:ext cx="2986013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Pratiksha Patil 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507597" y="1872655"/>
            <a:ext cx="2986013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Frontend : 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507597" y="2188369"/>
            <a:ext cx="2986013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Vendor management and dashboard UI.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8086" y="3187204"/>
            <a:ext cx="353408" cy="353417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sp>
        <p:nvSpPr>
          <p:cNvPr id="21" name="Text 19"/>
          <p:cNvSpPr/>
          <p:nvPr/>
        </p:nvSpPr>
        <p:spPr>
          <a:xfrm>
            <a:off x="763916" y="3225304"/>
            <a:ext cx="221748" cy="277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92778" y="3241179"/>
            <a:ext cx="2986013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Bhavyasree Kintala Backend : 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92778" y="3787874"/>
            <a:ext cx="2986013" cy="477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Vendor reliability, vendor management and performance.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5495" y="3187204"/>
            <a:ext cx="353408" cy="353417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sp>
        <p:nvSpPr>
          <p:cNvPr id="25" name="Text 23"/>
          <p:cNvSpPr/>
          <p:nvPr/>
        </p:nvSpPr>
        <p:spPr>
          <a:xfrm>
            <a:off x="4421325" y="3225304"/>
            <a:ext cx="221748" cy="277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850187" y="3241179"/>
            <a:ext cx="2986013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Suchismita Dash 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850187" y="3528616"/>
            <a:ext cx="2986013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Backend : 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850187" y="3844330"/>
            <a:ext cx="2986013" cy="477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Procurement workflow, purchase orders and contracts.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12904" y="3187204"/>
            <a:ext cx="353408" cy="353417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sp>
        <p:nvSpPr>
          <p:cNvPr id="30" name="Text 28"/>
          <p:cNvSpPr/>
          <p:nvPr/>
        </p:nvSpPr>
        <p:spPr>
          <a:xfrm>
            <a:off x="8078734" y="3225304"/>
            <a:ext cx="221748" cy="277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6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507597" y="3241179"/>
            <a:ext cx="2986013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Yuvasri Palanikumar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507597" y="3528616"/>
            <a:ext cx="2986013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Frontend : 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507597" y="3844330"/>
            <a:ext cx="2986013" cy="477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Procurement, purchase orders, contracts and related UI.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8086" y="4604445"/>
            <a:ext cx="353408" cy="353417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sp>
        <p:nvSpPr>
          <p:cNvPr id="35" name="Text 33"/>
          <p:cNvSpPr/>
          <p:nvPr/>
        </p:nvSpPr>
        <p:spPr>
          <a:xfrm>
            <a:off x="763916" y="4642545"/>
            <a:ext cx="221748" cy="277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7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1192778" y="4658420"/>
            <a:ext cx="10300831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Sai Sree Nikitha 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1192778" y="4945856"/>
            <a:ext cx="10300831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Backend : 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192778" y="5261570"/>
            <a:ext cx="10300831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Communications, notifications, reports, audit logs and messaging services.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8086" y="5659338"/>
            <a:ext cx="10795524" cy="636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7000"/>
              </a:lnSpc>
              <a:spcAft>
                <a:spcPts val="1250"/>
              </a:spcAft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17352"/>
            <a:ext cx="10795524" cy="333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Technology Stack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98086" y="1198463"/>
            <a:ext cx="11405108" cy="149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modern, layered full-stack architecture purpose-built for scalability, security, and procurement intelligence.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7461" y="1431032"/>
            <a:ext cx="7016674" cy="394692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6331" y="5460901"/>
            <a:ext cx="5422864" cy="679748"/>
          </a:xfrm>
          <a:prstGeom prst="roundRect">
            <a:avLst>
              <a:gd name="adj" fmla="val 2504"/>
            </a:avLst>
          </a:prstGeom>
          <a:solidFill>
            <a:srgbClr val="6366F1"/>
          </a:solidFill>
          <a:ln/>
        </p:spPr>
      </p:sp>
      <p:sp>
        <p:nvSpPr>
          <p:cNvPr id="6" name="Text 3"/>
          <p:cNvSpPr/>
          <p:nvPr/>
        </p:nvSpPr>
        <p:spPr>
          <a:xfrm>
            <a:off x="729736" y="5534620"/>
            <a:ext cx="5196055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Frontend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29736" y="5775127"/>
            <a:ext cx="5196055" cy="29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Angular 17 + TypeScript delivers a reactive, component-driven UI with Angular Material design system and Chart.js for in-app analytics visualizations.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40604" y="5534620"/>
            <a:ext cx="5259355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Backend &amp; Data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240604" y="5775127"/>
            <a:ext cx="5259355" cy="29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Python FastAPI provides async REST APIs with full OpenAPI documentation. PostgreSQL handles relational persistence; Redis powers caching and Celery task queues for background jobs.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51681"/>
            <a:ext cx="10795524" cy="333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Core Features &amp; System Modules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98086" y="1232793"/>
            <a:ext cx="11405108" cy="149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Ten integrated modules form a unified procurement intelligence ecosystem — each purpose-built, all interconnected.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4648" y="1548309"/>
            <a:ext cx="5484675" cy="3085207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9049" y="1548309"/>
            <a:ext cx="1274433" cy="314354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98086" y="4857750"/>
            <a:ext cx="5360853" cy="587375"/>
          </a:xfrm>
          <a:prstGeom prst="roundRect">
            <a:avLst>
              <a:gd name="adj" fmla="val 2897"/>
            </a:avLst>
          </a:prstGeom>
          <a:solidFill>
            <a:srgbClr val="2B2952"/>
          </a:solidFill>
          <a:ln/>
        </p:spPr>
      </p:sp>
      <p:sp>
        <p:nvSpPr>
          <p:cNvPr id="7" name="Text 3"/>
          <p:cNvSpPr/>
          <p:nvPr/>
        </p:nvSpPr>
        <p:spPr>
          <a:xfrm>
            <a:off x="811490" y="4971157"/>
            <a:ext cx="5134045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Vendor Management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811490" y="5182096"/>
            <a:ext cx="5134045" cy="149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Onboarding, profiles, approvals, and lifecycle tracking for all vendor relationships.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6132657" y="4857750"/>
            <a:ext cx="5360953" cy="587375"/>
          </a:xfrm>
          <a:prstGeom prst="roundRect">
            <a:avLst>
              <a:gd name="adj" fmla="val 2897"/>
            </a:avLst>
          </a:prstGeom>
          <a:solidFill>
            <a:srgbClr val="2B2952"/>
          </a:solidFill>
          <a:ln/>
        </p:spPr>
      </p:sp>
      <p:sp>
        <p:nvSpPr>
          <p:cNvPr id="10" name="Text 6"/>
          <p:cNvSpPr/>
          <p:nvPr/>
        </p:nvSpPr>
        <p:spPr>
          <a:xfrm>
            <a:off x="6246061" y="4971157"/>
            <a:ext cx="5134144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Reliability Scoring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246061" y="5182096"/>
            <a:ext cx="5134144" cy="149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Composite scoring engine aggregating delivery, quality, compliance, and responsiveness metrics.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698086" y="5518845"/>
            <a:ext cx="5360853" cy="587375"/>
          </a:xfrm>
          <a:prstGeom prst="roundRect">
            <a:avLst>
              <a:gd name="adj" fmla="val 2897"/>
            </a:avLst>
          </a:prstGeom>
          <a:solidFill>
            <a:srgbClr val="2B2952"/>
          </a:solidFill>
          <a:ln/>
        </p:spPr>
      </p:sp>
      <p:sp>
        <p:nvSpPr>
          <p:cNvPr id="13" name="Text 9"/>
          <p:cNvSpPr/>
          <p:nvPr/>
        </p:nvSpPr>
        <p:spPr>
          <a:xfrm>
            <a:off x="811490" y="5632252"/>
            <a:ext cx="5134045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Procurement &amp; POs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11490" y="5843191"/>
            <a:ext cx="5134045" cy="149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End-to-end purchase request and purchase order workflows with role-based approvals.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6132657" y="5518845"/>
            <a:ext cx="5360953" cy="587375"/>
          </a:xfrm>
          <a:prstGeom prst="roundRect">
            <a:avLst>
              <a:gd name="adj" fmla="val 2897"/>
            </a:avLst>
          </a:prstGeom>
          <a:solidFill>
            <a:srgbClr val="2B2952"/>
          </a:solidFill>
          <a:ln/>
        </p:spPr>
      </p:sp>
      <p:sp>
        <p:nvSpPr>
          <p:cNvPr id="16" name="Text 12"/>
          <p:cNvSpPr/>
          <p:nvPr/>
        </p:nvSpPr>
        <p:spPr>
          <a:xfrm>
            <a:off x="6246061" y="5632252"/>
            <a:ext cx="5134144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Analytics &amp; Reports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246061" y="5843191"/>
            <a:ext cx="5134144" cy="149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Real-time dashboards and exportable reports for procurement managers, auditors, and finance.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48221"/>
            <a:ext cx="10795524" cy="1026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Challenges in Traditional Vendor &amp; Procurement Management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2223790"/>
            <a:ext cx="1140510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Without a unified platform, procurement teams work in fragments — driving cost, risk, and slower decisions.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44" y="2678186"/>
            <a:ext cx="5995538" cy="337256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00" y="3136999"/>
            <a:ext cx="5180875" cy="24350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67159"/>
            <a:ext cx="10795524" cy="436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From Fragmented Processes to One Intelligent Platform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68" y="1534319"/>
            <a:ext cx="4427328" cy="2490391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354" y="1534616"/>
            <a:ext cx="4200420" cy="222547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3168" y="4015581"/>
            <a:ext cx="5826376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endParaRPr lang="en-US" sz="11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4490244"/>
            <a:ext cx="3598475" cy="59342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46414" y="5209778"/>
            <a:ext cx="3301818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Unified Data</a:t>
            </a: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846414" y="5503466"/>
            <a:ext cx="3301818" cy="438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Single platform consolidates all vendor, contract, and procurement records.</a:t>
            </a:r>
            <a:endParaRPr lang="en-US" sz="11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6560" y="4490244"/>
            <a:ext cx="3598475" cy="59342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444889" y="5209778"/>
            <a:ext cx="3301818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Automated Workflows</a:t>
            </a:r>
            <a:endParaRPr lang="en-US" sz="1350" dirty="0"/>
          </a:p>
        </p:txBody>
      </p:sp>
      <p:sp>
        <p:nvSpPr>
          <p:cNvPr id="11" name="Text 5"/>
          <p:cNvSpPr/>
          <p:nvPr/>
        </p:nvSpPr>
        <p:spPr>
          <a:xfrm>
            <a:off x="4444889" y="5503466"/>
            <a:ext cx="3301818" cy="438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Role-based approvals, notifications, and task routing replace manual handoffs.</a:t>
            </a:r>
            <a:endParaRPr lang="en-US" sz="11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5035" y="4490244"/>
            <a:ext cx="3598475" cy="59342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043364" y="5209778"/>
            <a:ext cx="3301818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Intelligence Layer</a:t>
            </a:r>
            <a:endParaRPr lang="en-US" sz="1350" dirty="0"/>
          </a:p>
        </p:txBody>
      </p:sp>
      <p:sp>
        <p:nvSpPr>
          <p:cNvPr id="14" name="Text 7"/>
          <p:cNvSpPr/>
          <p:nvPr/>
        </p:nvSpPr>
        <p:spPr>
          <a:xfrm>
            <a:off x="8043364" y="5503466"/>
            <a:ext cx="3301818" cy="438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Reliability scoring and analytics surface risks before they become incidents.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42441"/>
            <a:ext cx="10795524" cy="333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System Architecture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98086" y="1123553"/>
            <a:ext cx="11405108" cy="149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five-layer architecture designed for security, modularity, and cloud-native deployment — with JWT/OAuth2/RBAC securing every API boundary.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7263" y="1356122"/>
            <a:ext cx="7017071" cy="3947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6331" y="5386189"/>
            <a:ext cx="5422864" cy="829370"/>
          </a:xfrm>
          <a:prstGeom prst="roundRect">
            <a:avLst>
              <a:gd name="adj" fmla="val 2052"/>
            </a:avLst>
          </a:prstGeom>
          <a:solidFill>
            <a:srgbClr val="6366F1"/>
          </a:solidFill>
          <a:ln/>
        </p:spPr>
      </p:sp>
      <p:sp>
        <p:nvSpPr>
          <p:cNvPr id="6" name="Text 3"/>
          <p:cNvSpPr/>
          <p:nvPr/>
        </p:nvSpPr>
        <p:spPr>
          <a:xfrm>
            <a:off x="729736" y="5459909"/>
            <a:ext cx="5196055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API Design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29736" y="5700415"/>
            <a:ext cx="5196055" cy="29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FastAPI delivers async REST endpoints with auto-generated OpenAPI/Swagger docs. Every module is independently versioned and testable.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40604" y="5459909"/>
            <a:ext cx="5259355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Security Model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240604" y="5700415"/>
            <a:ext cx="5259355" cy="448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JWT bearer tokens + OAuth2 flows authenticate every request. RBAC enforces six distinct role profiles — Administrator, Procurement Manager, Supply Chain Manager, Vendor, Finance Officer, and Auditor — each with scoped permissions.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13767"/>
            <a:ext cx="10795524" cy="333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Engineering Challenges &amp; Solutions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98086" y="1094879"/>
            <a:ext cx="11405108" cy="149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Four principal engineering challenges shaped the platform's technical design — each addressed with a targeted, production-grade solution.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7263" y="1327448"/>
            <a:ext cx="7017071" cy="3947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8086" y="5357515"/>
            <a:ext cx="10795524" cy="886619"/>
          </a:xfrm>
          <a:prstGeom prst="roundRect">
            <a:avLst>
              <a:gd name="adj" fmla="val 1919"/>
            </a:avLst>
          </a:prstGeom>
          <a:solidFill>
            <a:srgbClr val="2B2952"/>
          </a:solidFill>
          <a:ln/>
        </p:spPr>
      </p:sp>
      <p:sp>
        <p:nvSpPr>
          <p:cNvPr id="6" name="Shape 3"/>
          <p:cNvSpPr/>
          <p:nvPr/>
        </p:nvSpPr>
        <p:spPr>
          <a:xfrm>
            <a:off x="698086" y="5357515"/>
            <a:ext cx="3598475" cy="886619"/>
          </a:xfrm>
          <a:custGeom>
            <a:avLst/>
            <a:gdLst/>
            <a:ahLst/>
            <a:cxnLst/>
            <a:rect l="l" t="t" r="r" b="b"/>
            <a:pathLst>
              <a:path w="3598475" h="886619">
                <a:moveTo>
                  <a:pt x="14182" y="0"/>
                </a:moveTo>
                <a:lnTo>
                  <a:pt x="3598475" y="0"/>
                </a:lnTo>
                <a:lnTo>
                  <a:pt x="3598475" y="886619"/>
                </a:lnTo>
                <a:lnTo>
                  <a:pt x="14182" y="886619"/>
                </a:lnTo>
                <a:arcTo hR="14182" wR="14182" stAng="5400000" swAng="5400000"/>
                <a:lnTo>
                  <a:pt x="0" y="14182"/>
                </a:lnTo>
                <a:arcTo hR="14182" wR="14182" stAng="10800000" swAng="5400000"/>
                <a:close/>
              </a:path>
            </a:pathLst>
          </a:custGeom>
          <a:solidFill>
            <a:srgbClr val="2B2952"/>
          </a:solidFill>
          <a:ln/>
        </p:spPr>
      </p:sp>
      <p:sp>
        <p:nvSpPr>
          <p:cNvPr id="7" name="Text 4"/>
          <p:cNvSpPr/>
          <p:nvPr/>
        </p:nvSpPr>
        <p:spPr>
          <a:xfrm>
            <a:off x="811490" y="5470922"/>
            <a:ext cx="3371666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Modular Codebase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11490" y="5681861"/>
            <a:ext cx="3371666" cy="448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Domain-separated FastAPI routers enable independent development, testing, and deployment of each platform module without cross-module coupling.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296560" y="5357515"/>
            <a:ext cx="3598475" cy="886619"/>
          </a:xfrm>
          <a:prstGeom prst="rect">
            <a:avLst/>
          </a:prstGeom>
          <a:solidFill>
            <a:srgbClr val="2B2952"/>
          </a:solidFill>
          <a:ln/>
        </p:spPr>
      </p:sp>
      <p:sp>
        <p:nvSpPr>
          <p:cNvPr id="10" name="Shape 7"/>
          <p:cNvSpPr/>
          <p:nvPr/>
        </p:nvSpPr>
        <p:spPr>
          <a:xfrm>
            <a:off x="4296560" y="5357515"/>
            <a:ext cx="12700" cy="886619"/>
          </a:xfrm>
          <a:prstGeom prst="roundRect">
            <a:avLst>
              <a:gd name="adj" fmla="val 49999"/>
            </a:avLst>
          </a:prstGeom>
          <a:solidFill>
            <a:srgbClr val="44426B"/>
          </a:solidFill>
          <a:ln/>
        </p:spPr>
      </p:sp>
      <p:sp>
        <p:nvSpPr>
          <p:cNvPr id="11" name="Text 8"/>
          <p:cNvSpPr/>
          <p:nvPr/>
        </p:nvSpPr>
        <p:spPr>
          <a:xfrm>
            <a:off x="4409965" y="5470922"/>
            <a:ext cx="3371666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Async Processing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409965" y="5681861"/>
            <a:ext cx="3371666" cy="448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Celery workers offload long-running tasks — reliability recalculation, report generation, and bulk notifications — from the synchronous request cycle.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895035" y="5357515"/>
            <a:ext cx="3598475" cy="886619"/>
          </a:xfrm>
          <a:custGeom>
            <a:avLst/>
            <a:gdLst/>
            <a:ahLst/>
            <a:cxnLst/>
            <a:rect l="l" t="t" r="r" b="b"/>
            <a:pathLst>
              <a:path w="3598475" h="886619">
                <a:moveTo>
                  <a:pt x="0" y="0"/>
                </a:moveTo>
                <a:lnTo>
                  <a:pt x="3584293" y="0"/>
                </a:lnTo>
                <a:arcTo hR="14182" wR="14182" stAng="16200000" swAng="5400000"/>
                <a:lnTo>
                  <a:pt x="3598475" y="872437"/>
                </a:lnTo>
                <a:arcTo hR="14182" wR="14182" stAng="0" swAng="5400000"/>
                <a:lnTo>
                  <a:pt x="0" y="886619"/>
                </a:lnTo>
                <a:lnTo>
                  <a:pt x="0" y="0"/>
                </a:lnTo>
                <a:close/>
              </a:path>
            </a:pathLst>
          </a:custGeom>
          <a:solidFill>
            <a:srgbClr val="2B2952"/>
          </a:solidFill>
          <a:ln/>
        </p:spPr>
      </p:sp>
      <p:sp>
        <p:nvSpPr>
          <p:cNvPr id="14" name="Shape 11"/>
          <p:cNvSpPr/>
          <p:nvPr/>
        </p:nvSpPr>
        <p:spPr>
          <a:xfrm>
            <a:off x="7895035" y="5357515"/>
            <a:ext cx="12700" cy="886619"/>
          </a:xfrm>
          <a:prstGeom prst="roundRect">
            <a:avLst>
              <a:gd name="adj" fmla="val 49999"/>
            </a:avLst>
          </a:prstGeom>
          <a:solidFill>
            <a:srgbClr val="44426B"/>
          </a:solidFill>
          <a:ln/>
        </p:spPr>
      </p:sp>
      <p:sp>
        <p:nvSpPr>
          <p:cNvPr id="15" name="Text 12"/>
          <p:cNvSpPr/>
          <p:nvPr/>
        </p:nvSpPr>
        <p:spPr>
          <a:xfrm>
            <a:off x="8008439" y="5470922"/>
            <a:ext cx="3371666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Composite Scoring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008439" y="5681861"/>
            <a:ext cx="3371666" cy="448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Reliability Score synthesizes on-time delivery %, quality rejection rate, compliance adherence, and communication responsiveness into a single vendor risk indicator.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41449"/>
            <a:ext cx="10795524" cy="38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Measurable Outcomes &amp; Performance Targets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98086" y="1222871"/>
            <a:ext cx="11405108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following targets are </a:t>
            </a:r>
            <a:pPr algn="l" indent="0" marL="0">
              <a:lnSpc>
                <a:spcPct val="117000"/>
              </a:lnSpc>
              <a:buNone/>
            </a:pPr>
            <a:r>
              <a:rPr lang="en-US" sz="10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project-defined design goals</a:t>
            </a:r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established during architecture and requirements planning — not measured production metrics.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65117" y="1581845"/>
            <a:ext cx="4002285" cy="431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&lt;3min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98086" y="2152848"/>
            <a:ext cx="5336446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Vendor Registration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8086" y="2404170"/>
            <a:ext cx="5336446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Target time from form submission to system confirmation for new vendor onboarding.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24194" y="1581845"/>
            <a:ext cx="4002285" cy="431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&lt;24hr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157163" y="2152848"/>
            <a:ext cx="5336446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PO Approval Cycle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57163" y="2404170"/>
            <a:ext cx="5336446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Target end-to-end purchase order approval turnaround through role-based workflow routing.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65117" y="2849066"/>
            <a:ext cx="4002285" cy="431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95%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98086" y="3420070"/>
            <a:ext cx="5336446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On-Time Delivery Monitoring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8086" y="3671391"/>
            <a:ext cx="5336446" cy="366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Platform monitors and surfaces delivery performance against this target threshold for each vendor.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24194" y="2849066"/>
            <a:ext cx="4002285" cy="431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&lt;300ms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157163" y="3420070"/>
            <a:ext cx="5336446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API Response Target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57163" y="3671391"/>
            <a:ext cx="5336446" cy="366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FastAPI async endpoints with Redis caching designed to respond under 300ms for standard queries.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65117" y="4299446"/>
            <a:ext cx="4002285" cy="431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&lt;2sec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98086" y="4870450"/>
            <a:ext cx="5336446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Dashboard Load Target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8086" y="5121771"/>
            <a:ext cx="5336446" cy="366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Angular lazy-loading and optimized API aggregations designed to render dashboards in under 2 seconds.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24194" y="4299446"/>
            <a:ext cx="4002285" cy="431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1000+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157163" y="4870450"/>
            <a:ext cx="5336446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Concurrent Users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57163" y="5121771"/>
            <a:ext cx="5336446" cy="366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Docker-containerized deployment with horizontal scaling supports 1,000+ simultaneous platform users.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8086" y="5598517"/>
            <a:ext cx="10795524" cy="618034"/>
          </a:xfrm>
          <a:prstGeom prst="roundRect">
            <a:avLst>
              <a:gd name="adj" fmla="val 3177"/>
            </a:avLst>
          </a:prstGeom>
          <a:solidFill>
            <a:srgbClr val="190080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952" y="5735340"/>
            <a:ext cx="163608" cy="13087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23426" y="5729288"/>
            <a:ext cx="10239317" cy="366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These are </a:t>
            </a:r>
            <a:pPr algn="l" indent="0" marL="0">
              <a:lnSpc>
                <a:spcPct val="117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project-defined performance targets</a:t>
            </a:r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set during system design and requirements engineering — they represent the intended operational envelope of the platform, not benchmarked production measurements.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23478"/>
            <a:ext cx="10795524" cy="333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End-to-End Vendor &amp; Procurement Workflow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98086" y="1004590"/>
            <a:ext cx="11405108" cy="149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platform guides every stakeholder through a structured, role-aware workflow — from initial login through performance scoring and executive reporting.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6234" y="1237159"/>
            <a:ext cx="6959227" cy="30010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84502" y="3674924"/>
            <a:ext cx="1485847" cy="185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Vendor Approve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084502" y="2980225"/>
            <a:ext cx="1485847" cy="185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Vendor Register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084502" y="2292543"/>
            <a:ext cx="1485847" cy="185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Role Dashboard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084502" y="1597844"/>
            <a:ext cx="1485847" cy="185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Login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98086" y="4404122"/>
            <a:ext cx="226808" cy="141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01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98086" y="4584105"/>
            <a:ext cx="5259355" cy="1270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1" name="Text 8"/>
          <p:cNvSpPr/>
          <p:nvPr/>
        </p:nvSpPr>
        <p:spPr>
          <a:xfrm>
            <a:off x="698086" y="4666159"/>
            <a:ext cx="5259355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Initiation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98086" y="4906665"/>
            <a:ext cx="5259355" cy="29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Users authenticate via JWT/OAuth2 and land on a role-filtered dashboard. Vendors self-register; procurement teams submit sourcing requests.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98086" y="5364659"/>
            <a:ext cx="226808" cy="141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98086" y="5544641"/>
            <a:ext cx="5259355" cy="1270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5" name="Text 12"/>
          <p:cNvSpPr/>
          <p:nvPr/>
        </p:nvSpPr>
        <p:spPr>
          <a:xfrm>
            <a:off x="698086" y="5626695"/>
            <a:ext cx="5259355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Procurement Execution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98086" y="5867202"/>
            <a:ext cx="5259355" cy="29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Approved vendor requests generate purchase orders, routed through configurable approval chains to Supply Chain and Finance Officers.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240604" y="4404122"/>
            <a:ext cx="226808" cy="141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01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240604" y="4584105"/>
            <a:ext cx="5259355" cy="1270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9" name="Text 16"/>
          <p:cNvSpPr/>
          <p:nvPr/>
        </p:nvSpPr>
        <p:spPr>
          <a:xfrm>
            <a:off x="6240604" y="4666159"/>
            <a:ext cx="5259355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Fulfillment &amp; Tracking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240604" y="4906665"/>
            <a:ext cx="5259355" cy="29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Vendors update order status; the platform tracks delivery against promised dates, triggering alerts for delays or SLA breaches.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240604" y="5364659"/>
            <a:ext cx="226808" cy="141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02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240604" y="5544641"/>
            <a:ext cx="5259355" cy="1270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23" name="Text 20"/>
          <p:cNvSpPr/>
          <p:nvPr/>
        </p:nvSpPr>
        <p:spPr>
          <a:xfrm>
            <a:off x="6240604" y="5626695"/>
            <a:ext cx="5259355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Intelligence &amp; Reporting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240604" y="5867202"/>
            <a:ext cx="5259355" cy="29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Completed orders feed the reliability scoring engine. Aggregated performance data populates executive dashboards and compliance audit trails.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485577"/>
            <a:ext cx="10795524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Intelligent Dashboards &amp;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98086" y="727571"/>
            <a:ext cx="11405108" cy="72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Three role-specific dashboards surface the right information to each user persona — from operational procurement tracking to executive compliance oversight.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698086" y="851991"/>
            <a:ext cx="5317794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Procurement Dashboard</a:t>
            </a:r>
            <a:endParaRPr lang="en-US" sz="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976114"/>
            <a:ext cx="3456496" cy="24880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8086" y="3491805"/>
            <a:ext cx="5927378" cy="72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Active PO status, approval pipeline, and monthly procurement volume trends — available to Procurement Managers in real time.</a:t>
            </a:r>
            <a:endParaRPr lang="en-US" sz="500" dirty="0"/>
          </a:p>
        </p:txBody>
      </p:sp>
      <p:sp>
        <p:nvSpPr>
          <p:cNvPr id="7" name="Text 4"/>
          <p:cNvSpPr/>
          <p:nvPr/>
        </p:nvSpPr>
        <p:spPr>
          <a:xfrm>
            <a:off x="6182166" y="851991"/>
            <a:ext cx="5317794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Vendor Reliability Score Distribution</a:t>
            </a:r>
            <a:endParaRPr lang="en-US" sz="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2166" y="976114"/>
            <a:ext cx="3456496" cy="24880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82166" y="3491805"/>
            <a:ext cx="5927378" cy="72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Composite reliability score distribution across the vendor portfolio — enabling procurement teams to prioritize sourcing from high-confidence suppliers.</a:t>
            </a:r>
            <a:endParaRPr lang="en-US" sz="500" dirty="0"/>
          </a:p>
        </p:txBody>
      </p:sp>
      <p:sp>
        <p:nvSpPr>
          <p:cNvPr id="10" name="Text 6"/>
          <p:cNvSpPr/>
          <p:nvPr/>
        </p:nvSpPr>
        <p:spPr>
          <a:xfrm>
            <a:off x="698086" y="3638352"/>
            <a:ext cx="5317794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On-Time Delivery Trend</a:t>
            </a:r>
            <a:endParaRPr lang="en-US" sz="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3762474"/>
            <a:ext cx="3456496" cy="248800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8086" y="6278166"/>
            <a:ext cx="5927378" cy="72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Platform-wide on-time delivery performance tracked against the 95% SLA target — surfaced on the Admin Dashboard for compliance and audit reporting.</a:t>
            </a:r>
            <a:endParaRPr lang="en-US" sz="500" dirty="0"/>
          </a:p>
        </p:txBody>
      </p:sp>
      <p:sp>
        <p:nvSpPr>
          <p:cNvPr id="13" name="Text 8"/>
          <p:cNvSpPr/>
          <p:nvPr/>
        </p:nvSpPr>
        <p:spPr>
          <a:xfrm>
            <a:off x="6182166" y="3638352"/>
            <a:ext cx="5317794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Procurement Spend by Category</a:t>
            </a:r>
            <a:endParaRPr lang="en-US" sz="6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2166" y="3762474"/>
            <a:ext cx="3456496" cy="248800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82166" y="6278166"/>
            <a:ext cx="5927378" cy="72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Spend analytics by procurement category — available to Finance Officers for budget planning and cost optimization within the Admin Analytics module.</a:t>
            </a:r>
            <a:endParaRPr lang="en-US" sz="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20601"/>
            <a:ext cx="1079552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Future Enhancements &amp; Roadmap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98086" y="1154509"/>
            <a:ext cx="11405108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platform's modular architecture provides a clear runway for AI-augmented procurement intelligence — building progressively on the current foundation.   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9245" y="1481137"/>
            <a:ext cx="8633105" cy="48561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3172321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                                        </a:t>
            </a:r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THANK YOU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2026-08-19T04:07:10Z</dcterms:created>
  <dcterms:modified xsi:type="dcterms:W3CDTF">2026-08-19T04:07:10Z</dcterms:modified>
</cp:coreProperties>
</file>